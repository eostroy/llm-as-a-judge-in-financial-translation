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1f8ada10f7478c" /><Relationship Type="http://schemas.openxmlformats.org/officeDocument/2006/relationships/extended-properties" Target="/docProps/app.xml" Id="Ra3f6b75314a74e8a" /><Relationship Type="http://schemas.openxmlformats.org/officeDocument/2006/relationships/officeDocument" Target="/ppt/presentation.xml" Id="R02b0b31319364e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cc5a6af2fc4a21"/>
  </p:sldMasterIdLst>
  <p:notesMasterIdLst>
    <p:notesMasterId xmlns:r="http://schemas.openxmlformats.org/officeDocument/2006/relationships" r:id="R6e8ff44b3511470e"/>
  </p:notesMasterIdLst>
  <p:sldIdLst>
    <p:sldId xmlns:r="http://schemas.openxmlformats.org/officeDocument/2006/relationships" id="256" r:id="R82a0b4c148274cb3"/>
    <p:sldId xmlns:r="http://schemas.openxmlformats.org/officeDocument/2006/relationships" id="257" r:id="R474acf4c765d4fad"/>
    <p:sldId xmlns:r="http://schemas.openxmlformats.org/officeDocument/2006/relationships" id="258" r:id="R77119a2896e44109"/>
    <p:sldId xmlns:r="http://schemas.openxmlformats.org/officeDocument/2006/relationships" id="259" r:id="Rd3260d158cca450a"/>
    <p:sldId xmlns:r="http://schemas.openxmlformats.org/officeDocument/2006/relationships" id="260" r:id="R96b3448512f04441"/>
    <p:sldId xmlns:r="http://schemas.openxmlformats.org/officeDocument/2006/relationships" id="261" r:id="Rdcad8b74b2d946aa"/>
    <p:sldId xmlns:r="http://schemas.openxmlformats.org/officeDocument/2006/relationships" id="262" r:id="R629ce2833c414e5c"/>
    <p:sldId xmlns:r="http://schemas.openxmlformats.org/officeDocument/2006/relationships" id="263" r:id="R0f3560d147d34b00"/>
    <p:sldId xmlns:r="http://schemas.openxmlformats.org/officeDocument/2006/relationships" id="264" r:id="Rb9efac144ea64d21"/>
    <p:sldId xmlns:r="http://schemas.openxmlformats.org/officeDocument/2006/relationships" id="265" r:id="R7e9912e7f45b4308"/>
    <p:sldId xmlns:r="http://schemas.openxmlformats.org/officeDocument/2006/relationships" id="266" r:id="R0433fc15d0d0491f"/>
    <p:sldId xmlns:r="http://schemas.openxmlformats.org/officeDocument/2006/relationships" id="267" r:id="R0982caef56a942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c5a6af2fc4a21" /><Relationship Type="http://schemas.openxmlformats.org/officeDocument/2006/relationships/theme" Target="/ppt/theme/theme1.xml" Id="R1f2c65c1dce049b6" /><Relationship Type="http://schemas.openxmlformats.org/officeDocument/2006/relationships/notesMaster" Target="/ppt/notesMasters/notesMaster1.xml" Id="R6e8ff44b3511470e" /><Relationship Type="http://schemas.openxmlformats.org/officeDocument/2006/relationships/presProps" Target="/ppt/presProps.xml" Id="R81f2dd0aab1b4773" /><Relationship Type="http://schemas.openxmlformats.org/officeDocument/2006/relationships/viewProps" Target="/ppt/viewProps.xml" Id="R1cef96d943dc4962" /><Relationship Type="http://schemas.openxmlformats.org/officeDocument/2006/relationships/tableStyles" Target="/ppt/tableStyles.xml" Id="R49d7b57b12894809" /><Relationship Type="http://schemas.openxmlformats.org/officeDocument/2006/relationships/slide" Target="/ppt/slides/slide1.xml" Id="R82a0b4c148274cb3" /><Relationship Type="http://schemas.openxmlformats.org/officeDocument/2006/relationships/slide" Target="/ppt/slides/slide2.xml" Id="R474acf4c765d4fad" /><Relationship Type="http://schemas.openxmlformats.org/officeDocument/2006/relationships/slide" Target="/ppt/slides/slide3.xml" Id="R77119a2896e44109" /><Relationship Type="http://schemas.openxmlformats.org/officeDocument/2006/relationships/slide" Target="/ppt/slides/slide4.xml" Id="Rd3260d158cca450a" /><Relationship Type="http://schemas.openxmlformats.org/officeDocument/2006/relationships/slide" Target="/ppt/slides/slide5.xml" Id="R96b3448512f04441" /><Relationship Type="http://schemas.openxmlformats.org/officeDocument/2006/relationships/slide" Target="/ppt/slides/slide6.xml" Id="Rdcad8b74b2d946aa" /><Relationship Type="http://schemas.openxmlformats.org/officeDocument/2006/relationships/slide" Target="/ppt/slides/slide7.xml" Id="R629ce2833c414e5c" /><Relationship Type="http://schemas.openxmlformats.org/officeDocument/2006/relationships/slide" Target="/ppt/slides/slide8.xml" Id="R0f3560d147d34b00" /><Relationship Type="http://schemas.openxmlformats.org/officeDocument/2006/relationships/slide" Target="/ppt/slides/slide9.xml" Id="Rb9efac144ea64d21" /><Relationship Type="http://schemas.openxmlformats.org/officeDocument/2006/relationships/slide" Target="/ppt/slides/slide10.xml" Id="R7e9912e7f45b4308" /><Relationship Type="http://schemas.openxmlformats.org/officeDocument/2006/relationships/slide" Target="/ppt/slides/slide11.xml" Id="R0433fc15d0d0491f" /><Relationship Type="http://schemas.openxmlformats.org/officeDocument/2006/relationships/slide" Target="/ppt/slides/slide12.xml" Id="R0982caef56a942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25c5708511641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be1e055b20413f" /><Relationship Type="http://schemas.openxmlformats.org/officeDocument/2006/relationships/notesMaster" Target="/ppt/notesMasters/notesMaster1.xml" Id="R46c39c5f1a7f49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51eb3f5b4e492c" /><Relationship Type="http://schemas.openxmlformats.org/officeDocument/2006/relationships/notesMaster" Target="/ppt/notesMasters/notesMaster1.xml" Id="R3d8e95003aa94b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e2fe3aa42749ae" /><Relationship Type="http://schemas.openxmlformats.org/officeDocument/2006/relationships/notesMaster" Target="/ppt/notesMasters/notesMaster1.xml" Id="R6178438f35a142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ee435c35fa4b08" /><Relationship Type="http://schemas.openxmlformats.org/officeDocument/2006/relationships/notesMaster" Target="/ppt/notesMasters/notesMaster1.xml" Id="Rc731dfe624ee41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d4dbf7f58b479e" /><Relationship Type="http://schemas.openxmlformats.org/officeDocument/2006/relationships/notesMaster" Target="/ppt/notesMasters/notesMaster1.xml" Id="Re589a47a3c644e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cafbd316f04fab" /><Relationship Type="http://schemas.openxmlformats.org/officeDocument/2006/relationships/notesMaster" Target="/ppt/notesMasters/notesMaster1.xml" Id="R97c898055c8647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eb07d1945b4756" /><Relationship Type="http://schemas.openxmlformats.org/officeDocument/2006/relationships/notesMaster" Target="/ppt/notesMasters/notesMaster1.xml" Id="Rfe61ec41f8644e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0cb2e1bb6b41ec" /><Relationship Type="http://schemas.openxmlformats.org/officeDocument/2006/relationships/notesMaster" Target="/ppt/notesMasters/notesMaster1.xml" Id="R087a29f8e15746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d9e2425a964260" /><Relationship Type="http://schemas.openxmlformats.org/officeDocument/2006/relationships/notesMaster" Target="/ppt/notesMasters/notesMaster1.xml" Id="R5096d99d71304a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a76e4b30ca44e2" /><Relationship Type="http://schemas.openxmlformats.org/officeDocument/2006/relationships/notesMaster" Target="/ppt/notesMasters/notesMaster1.xml" Id="Rc44344db2fab46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f4b7cd851c4fd4" /><Relationship Type="http://schemas.openxmlformats.org/officeDocument/2006/relationships/notesMaster" Target="/ppt/notesMasters/notesMaster1.xml" Id="Re70f9f0717bc49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39090a50c54102" /><Relationship Type="http://schemas.openxmlformats.org/officeDocument/2006/relationships/notesMaster" Target="/ppt/notesMasters/notesMaster1.xml" Id="Rc816e48876054b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11dd51edf490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1bf49a38aad4f6a" /><Relationship Type="http://schemas.openxmlformats.org/officeDocument/2006/relationships/slideLayout" Target="/ppt/slideLayouts/slideLayout2.xml" Id="R15f1b143ef1d44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f1b143ef1d44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1ce9b6319440c9" /><Relationship Type="http://schemas.openxmlformats.org/officeDocument/2006/relationships/notesSlide" Target="/ppt/notesSlides/notesSlide1.xml" Id="Rfd63f4a5bd9544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c269fc97a4485d" /><Relationship Type="http://schemas.openxmlformats.org/officeDocument/2006/relationships/notesSlide" Target="/ppt/notesSlides/notesSlide2.xml" Id="Re53af47148034a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c1c90fd2ae43ec" /><Relationship Type="http://schemas.openxmlformats.org/officeDocument/2006/relationships/notesSlide" Target="/ppt/notesSlides/notesSlide3.xml" Id="Rb4cb9031b61b4c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1cd874a77c41a4" /><Relationship Type="http://schemas.openxmlformats.org/officeDocument/2006/relationships/notesSlide" Target="/ppt/notesSlides/notesSlide4.xml" Id="R3638d295eb064b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94aba7d9154828" /><Relationship Type="http://schemas.openxmlformats.org/officeDocument/2006/relationships/notesSlide" Target="/ppt/notesSlides/notesSlide5.xml" Id="R6052205c76c042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060c3ac61845c2" /><Relationship Type="http://schemas.openxmlformats.org/officeDocument/2006/relationships/notesSlide" Target="/ppt/notesSlides/notesSlide6.xml" Id="R90af2ab3a4a24e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cea7e5a6344a2b" /><Relationship Type="http://schemas.openxmlformats.org/officeDocument/2006/relationships/notesSlide" Target="/ppt/notesSlides/notesSlide7.xml" Id="R85cf96244e064d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276a4767224e07" /><Relationship Type="http://schemas.openxmlformats.org/officeDocument/2006/relationships/notesSlide" Target="/ppt/notesSlides/notesSlide8.xml" Id="Ra591fe6d5ab647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eac80d82814858" /><Relationship Type="http://schemas.openxmlformats.org/officeDocument/2006/relationships/notesSlide" Target="/ppt/notesSlides/notesSlide9.xml" Id="R5719c62748ab4c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fa4c6e579940fe" /><Relationship Type="http://schemas.openxmlformats.org/officeDocument/2006/relationships/notesSlide" Target="/ppt/notesSlides/notesSlide10.xml" Id="Rc06c8c5485c342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1bce9bbf124ae3" /><Relationship Type="http://schemas.openxmlformats.org/officeDocument/2006/relationships/notesSlide" Target="/ppt/notesSlides/notesSlide11.xml" Id="R41d2faac65e147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bc1ef5f72a4ed3" /><Relationship Type="http://schemas.openxmlformats.org/officeDocument/2006/relationships/notesSlide" Target="/ppt/notesSlides/notesSlide12.xml" Id="R8e85b7eaa02443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4E6EB5-9BDA-42EE-9ED2-A1139AEB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B6A78-2862-4556-867E-FDCB43F3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C38F5-6F93-4AD7-981E-95006591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91B66-0368-4862-B437-92ECD6AF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6B6E4-AAFB-4D28-A595-8CA472E2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rPr>
              <a:t>结项汇报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28870-2369-4D4A-B880-67FC46E8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LLM-as-a-Judge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财经译文质量排序研究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25BFE-832A-4667-840E-9BB30C79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从“模型是否一致”走向“模型为什么这样排序”：基于 FFN 与 ECPCFE 的双向财经翻译候选排序实验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1E53E-9A96-4AD9-925B-95B57C56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95400"/>
            <a:ext cx="28575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62C58-2528-40F0-8B62-83DF2765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00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rPr>
              <a:t>研究对象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E0982-D771-4697-AAE4-581E1C85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LLM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作为译文质量评审者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2A6E3-D3EE-4FCF-A5C8-AA08066D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稳定性、方向差异、候选来源、自排除评审集、特征偏好机制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80FEF-0553-4A79-8815-73C5DA0C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B8539-190A-49D9-BB3A-69071518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rPr>
              <a:t>核心结论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EA1AD-B12C-44AE-8B5D-546C86CD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CE 看语义对应，EC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看目标语组织与翻译腔。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70541-A1A9-4016-9D11-7835427A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501F9-FF74-4B23-8FFB-3918AE0E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2×2×5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B4DE4-9D54-4D96-B2E6-3066168A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实验架构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153AC-8DFC-4049-8ECB-DFA1DAB6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rPr>
              <a:t>双方向 × 双候选来源 × 五个 judge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FECFB-05F6-4130-9755-FB213B47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8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3B250-1F9E-4A15-A55C-B5844FA9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197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400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87D8D-3404-4B15-AF36-F16C7888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619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样本规模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D43F0-CE48-4B66-9E78-E0EB3615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829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rPr>
              <a:t>EC 与 CE 各 200 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E2F7B-1E14-482B-A605-CD6D0EBF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8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9372E-B217-42E4-9665-3F7C5EB5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197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EDDB0E-E572-43AB-AA17-4A46FE6C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19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候选译文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1A4281-1C14-41E9-8F76-24CEC4F1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829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rPr>
              <a:t>每样本三候选盲评排序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90608-9D14-4386-87BF-D55AF781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706DC3-B86D-4166-8564-2F0BC7E1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LLM-as-a-Judge 财经译文质量排序研究 | 结项汇报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D8E52B-AEB1-4351-958F-474EE5F9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65453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A62A5B-02EA-4A69-BC9D-E24C22B1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145D6-6ABC-4D4B-B059-3AAF5872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esearch Trend-marker">
            <a:extLst xmlns:a="http://schemas.openxmlformats.org/drawingml/2006/main">
              <a:ext uri="{FF2B5EF4-FFF2-40B4-BE49-F238E27FC236}">
                <a16:creationId xmlns:a16="http://schemas.microsoft.com/office/drawing/2014/main" id="{82335800-5BED-476E-BBD2-B62F10E5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Research Trend-label">
            <a:extLst xmlns:a="http://schemas.openxmlformats.org/drawingml/2006/main">
              <a:ext uri="{FF2B5EF4-FFF2-40B4-BE49-F238E27FC236}">
                <a16:creationId xmlns:a16="http://schemas.microsoft.com/office/drawing/2014/main" id="{892290EC-D1F2-47C9-92E9-D3A556C0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R E S E A R C H   T R E N 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493AC-778D-4E7F-978B-DAA4EB02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译文评价正在从单一指标转向可解释的模型评审。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B5707-7858-43E7-BE29-9FEFC661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当前趋势不是只问“哪个系统得分高”，而是追问评审标准是否稳定、是否可解释、是否可被审计。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BCF30-4D24-40C9-82CB-8DCA267A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B798E-6370-42E6-AFE4-CEE9D23C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LLM-as-a-Judge 财经译文质量排序研究 | 结项汇报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1A946-A744-4F9B-A870-506A2234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08328-4ED8-4E7B-BE49-078A7ECC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FC0FA-C050-4CA0-AE95-17DAC5CE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自动指标到模型评审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FB070-ABD2-413D-96F7-B0E2AC5F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传统 BLEU/COMET 等指标强调相关性；LLM-as-a-judge 能整合语义、语篇、语域和目标语表达。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B3560-B1AF-4B25-8A26-8CBE6549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0269E-D729-484F-9ABA-B05EADE0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CC807-CEEC-4D87-B6F5-8E4C4E5C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从生成到评价闭环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7967C-9E74-443C-B053-25C506BB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翻译、译后编辑、候选排序和审校辅助正在合并为“生成—评价—选择”的工作流。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CB09C-0359-4DD2-8CFD-BDF4661A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8A089-337C-43D4-8139-6181DA53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9AD97-F2C8-4230-8FA8-911C4987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可信度成为核心问题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165F9-B4F6-4A37-AEE7-383A21E6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290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模型评审可能一致，但一致不等于正确；需要自偏好控制、人工参照和可解释特征。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3430E-B305-4547-AB28-50A8EA39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34A44-1A1A-4087-ABBA-B038205C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E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6CE075-B0EC-4C9C-85D7-4ABB54B8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财经文本是高压场景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FBE65-4C05-491D-AD6D-BCE500C1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1010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数字、实体、信息边界、术语和逻辑关系使财经翻译比一般流畅度判断更难。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AB6F0A-E8FC-4EE5-9425-7F6A8795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C4E62-7493-492A-B3A2-41A256AE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763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761589-EBAB-46F0-8276-F8A10BB1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066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研究定位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363AD7-B0E0-4D62-9E8C-0D4EC9C9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14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把 LLM 评审从“黑箱排名”拆成可检验的偏好机制。</a:t>
            </a:r>
          </a:p>
        </p:txBody>
      </p:sp>
    </p:spTree>
    <p:extLst>
      <p:ext uri="{BB962C8B-B14F-4D97-AF65-F5344CB8AC3E}">
        <p14:creationId xmlns:p14="http://schemas.microsoft.com/office/powerpoint/2010/main" val="19887212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0A9CE2-760E-4387-9D95-17D541D8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AE3D3-CEC9-45F4-BFF4-F0CE6B2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Questions-marker">
            <a:extLst xmlns:a="http://schemas.openxmlformats.org/drawingml/2006/main">
              <a:ext uri="{FF2B5EF4-FFF2-40B4-BE49-F238E27FC236}">
                <a16:creationId xmlns:a16="http://schemas.microsoft.com/office/drawing/2014/main" id="{D7C47A51-2C40-492F-8B20-DCF4B9BA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Questions-label">
            <a:extLst xmlns:a="http://schemas.openxmlformats.org/drawingml/2006/main">
              <a:ext uri="{FF2B5EF4-FFF2-40B4-BE49-F238E27FC236}">
                <a16:creationId xmlns:a16="http://schemas.microsoft.com/office/drawing/2014/main" id="{79258CA0-8964-44B7-8A37-B430867A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Q U E S T I O N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B634A-A91B-49C4-B989-701DB22A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三个问题决定这项研究的价值。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C0D1E-0099-468F-83DB-0A8F346C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研究不是比较“哪个模型最好”，而是检验模型评审在财经翻译场景中的稳定性、方向性和偏好来源。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F1C20-2EAF-420B-BBFD-7DF96555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2A6B2-8A81-4AB0-BBBD-935291AD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LLM-as-a-Judge 财经译文质量排序研究 | 结项汇报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D76B0-A511-4518-B4FB-E11500B9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DC165-6FFA-4538-99A2-D16253B5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2B37C-5415-451B-9EA3-E07D7D4A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6D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C26D3A"/>
                </a:solidFill>
                <a:latin typeface="Microsoft YaHei UI"/>
                <a:ea typeface="Microsoft YaHei UI"/>
                <a:cs typeface="Microsoft YaHei UI"/>
              </a:rPr>
              <a:t>RQ1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384A5-05F2-4023-9527-1081CDA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稳定性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367D0-7548-4BFC-908A-D8C27B6A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82B9E-28C9-40B1-8975-ADCA0FE7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2343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多个 LLM judge 在候选译文排序中是否形成稳定共识？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BC2B3-E9C9-4050-8747-1ACCE91E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02091-6B0B-435E-8A60-93839A70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RQ2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228D1-6B0D-451C-8FD5-07717749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方向性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13927-CFE1-477E-9D1C-7664020B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433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6245E-8CAB-4A49-90EA-0031F484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2343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英译中与中译英是否触发不同的评价机制？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51825-6EAD-4D6A-89E0-C4760860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54CE0-76B3-4C32-B5B2-3289A4E1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6D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C26D3A"/>
                </a:solidFill>
                <a:latin typeface="Microsoft YaHei UI"/>
                <a:ea typeface="Microsoft YaHei UI"/>
                <a:cs typeface="Microsoft YaHei UI"/>
              </a:rPr>
              <a:t>RQ3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45A48-9F11-4C16-88C0-D6D6DDC2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来源效应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9887E-C1AC-4706-AB58-69E17A39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C915A2-E64F-46F4-AA44-7ED8D7AB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48100"/>
            <a:ext cx="2343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候选译文由不同模型生成时，排序结果是否受到自偏好或候选来源影响？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E919E2-E5C2-42E1-8351-F955257B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最终回答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347DF-7669-4AAB-BA97-18B11218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721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LLM-as-a-judge 具有稳定识别能力，但不是单一、透明、完全一致的评价器。</a:t>
            </a:r>
          </a:p>
        </p:txBody>
      </p:sp>
    </p:spTree>
    <p:extLst>
      <p:ext uri="{BB962C8B-B14F-4D97-AF65-F5344CB8AC3E}">
        <p14:creationId xmlns:p14="http://schemas.microsoft.com/office/powerpoint/2010/main" val="14041813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E16613-2A0C-4DF8-A5B7-53D0C57A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DFD6F-8D7C-4F16-BD0A-B5C6AC07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Design-marker">
            <a:extLst xmlns:a="http://schemas.openxmlformats.org/drawingml/2006/main">
              <a:ext uri="{FF2B5EF4-FFF2-40B4-BE49-F238E27FC236}">
                <a16:creationId xmlns:a16="http://schemas.microsoft.com/office/drawing/2014/main" id="{267F2BE3-3BF9-4269-AA58-0A06FE7D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Design-label">
            <a:extLst xmlns:a="http://schemas.openxmlformats.org/drawingml/2006/main">
              <a:ext uri="{FF2B5EF4-FFF2-40B4-BE49-F238E27FC236}">
                <a16:creationId xmlns:a16="http://schemas.microsoft.com/office/drawing/2014/main" id="{96B14C04-6291-4758-9BBD-E35C4A04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D E S I G 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FA1BE-EE97-422B-938A-E8BB8CA4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双方向、双版本、五模型盲评构成主实验框架。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948D7-1D18-4EC8-9CA3-A0FAF1FE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每个方向 200 条样本，每条样本 3 个候选；排序被展开为 pairwise preference，以便计算一致性和回归解释。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EA5E7-6FCF-4968-B922-612657D8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8DAED-E442-4F97-B859-62E871B7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LLM-as-a-Judge 财经译文质量排序研究 | 结项汇报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BECE3-3AA2-475D-B7AF-EC157AAC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4D80C-E8E6-496E-8D45-7303636C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B8EC7-641A-455A-BBCF-AB161336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F6F9F"/>
                </a:solidFill>
                <a:latin typeface="Microsoft YaHei UI"/>
                <a:ea typeface="Microsoft YaHei UI"/>
                <a:cs typeface="Microsoft YaHei UI"/>
              </a:rPr>
              <a:t>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F0E6C-9F22-444F-9AC7-18BB197C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907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English → Chinese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C9F56-8EBF-4E1F-B3AF-75C568DF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765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FFN 财经新闻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8D7C2-1838-412C-9514-FBC5257F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FB9F7-4A93-4123-B404-5EE0BB3E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BB7C3-0099-4105-B646-F4DF0944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956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Chinese → English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D6F96-0E0B-4151-93D9-CF9277E5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81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ECPCFE 财经/经济语料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B02EF-6FB2-4FAC-A956-8D6E4DD0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90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候选来源版本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6C35E-C384-4560-A5F0-1781D2B2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2700"/>
            <a:ext cx="2343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DFBAC-417D-44B9-9C6C-B2DE9F3B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81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kimi-version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DE0C6-4716-4209-8D51-40AC43E3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480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Kimi K2.5 生成候选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76AC9-E221-46ED-9DE3-A92B8BA4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43300"/>
            <a:ext cx="2343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7F72BE-D102-4911-A378-2E7E331F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claude-version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125CB-4047-44AD-B5A8-760DBDBE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386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Claude Sonnet 4.6 生成候选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6160C-9363-44B0-A5C7-BB6561A3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评审模型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749537-41B9-4A40-8FE3-21CA868D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3810">
            <a:solidFill>
              <a:srgbClr val="C9BF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ABE4B6-5E75-4B67-B684-1AFF0756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032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GPT-5.2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85B6D5-77A6-4FD9-965E-E12C38B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3810">
            <a:solidFill>
              <a:srgbClr val="C9BF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9CE851-8741-4C20-B903-C85BC938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6227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Gemini 3 Flash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6815B0-B7AC-4686-8C04-028B9C5B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3810">
            <a:solidFill>
              <a:srgbClr val="C9BFA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217DF7-4C5D-4FEA-9DC6-85E77490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2422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Claude Sonnet 4.6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805716-05D6-4A27-9895-04C36674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3810">
            <a:solidFill>
              <a:srgbClr val="C9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85753F-CA68-4D58-8151-BE2CB971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8617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Kimi K2.5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AC4FB7-6750-4D1E-A75A-8FA8473B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3810">
            <a:solidFill>
              <a:srgbClr val="C9BFA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4D7B29-1361-467C-A686-F6978187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4812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DeepSeek V4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BD0209-0726-4DDF-9D3B-501E78C7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2922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CF98CC-E650-4AD1-87E5-A1E7A431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600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8893D7-6C36-41E5-9862-EDD70EC1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pairwise / 模型对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67064A-D380-496A-B7B6-E5C31E62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721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200 样本 × 3 个成对比较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DF6FED-D178-46FE-B010-830343C3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2922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9F1DFD-203F-441C-9AC4-A65C46D0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625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自排除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19059C-BD63-4EDD-9EBA-25886377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626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稳健性设计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4B35D1-07BD-4BFB-90BE-3210B920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721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排除候选生成器自身作为 judge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4F39D4-0FDF-4B0E-9D3B-E74AA943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02773E-04C9-48B6-9AD9-DE94EAE8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62575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Borda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6AB344-459B-4E3A-875F-6F1B8024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626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共识排序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9D747F-4890-450A-ABB6-C09B7036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721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聚合多模型盲评结果</a:t>
            </a:r>
          </a:p>
        </p:txBody>
      </p:sp>
    </p:spTree>
    <p:extLst>
      <p:ext uri="{BB962C8B-B14F-4D97-AF65-F5344CB8AC3E}">
        <p14:creationId xmlns:p14="http://schemas.microsoft.com/office/powerpoint/2010/main" val="9273185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5DAE5-EAD6-4195-B147-C551FE5B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FC527-484C-449D-AFA7-198D320C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cess-marker">
            <a:extLst xmlns:a="http://schemas.openxmlformats.org/drawingml/2006/main">
              <a:ext uri="{FF2B5EF4-FFF2-40B4-BE49-F238E27FC236}">
                <a16:creationId xmlns:a16="http://schemas.microsoft.com/office/drawing/2014/main" id="{DD4AF931-2780-4FCC-92E3-81B3F3B3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Process-label">
            <a:extLst xmlns:a="http://schemas.openxmlformats.org/drawingml/2006/main">
              <a:ext uri="{FF2B5EF4-FFF2-40B4-BE49-F238E27FC236}">
                <a16:creationId xmlns:a16="http://schemas.microsoft.com/office/drawing/2014/main" id="{32C97BAD-C228-48C2-AB71-3420713F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P R O C E S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17C20-415D-4A06-845B-5260C1A5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研究流程把“排序结果”转化为“可解释证据链”。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93D5E-3CA7-4ED3-9BFD-FBBF019D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从盲评排序到 pairwise 回归，再到自排除和稳定性分层，核心目标是降低偶然性与来源混淆。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1FE4E-30DF-4571-8411-6137E930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92659-D835-45AA-B10D-DC4CEFF6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LLM-as-a-Judge 财经译文质量排序研究 | 结项汇报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83254-93C6-4D83-91AE-3511D4C2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67639-B91B-4201-8D3C-0E1E7E89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2E609-00BF-4C1A-ACC0-D5B900F4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F6F9F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3999E-8AD3-4DC3-B6D2-8BD814C3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样本构建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31EF2-11F4-410C-AFA3-BDA4382C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051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FFN / ECPCFE</a:t>
            </a:r>
          </a:p>
          <a:p xmlns:a="http://schemas.openxmlformats.org/drawingml/2006/main">
            <a:pPr algn="l">
              <a:def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各 200 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B4CB9-EB9F-4329-9FBE-B642D33F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6C421-375F-4D07-82EE-6F10350A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95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E81DF-5C5E-4FEF-AB03-B4AE9F69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28DA2-AFC2-4A4A-A3A4-D4D7A1C5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003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FBB21-9111-4743-8544-6C88586B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候选生成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5C97A-DD91-4497-9573-247F3D65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051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人工参考译文 +</a:t>
            </a:r>
          </a:p>
          <a:p xmlns:a="http://schemas.openxmlformats.org/drawingml/2006/main">
            <a:pPr algn="l">
              <a:def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两个模型候选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2C8A4-1B72-4450-ABB6-7EE62284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351D7A-C75D-48C1-8560-188E9E28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95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ED4E9-F0CB-43B5-9455-81BA3E19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2A0D4-D5FB-47CD-92ED-4C5E877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003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26D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C26D3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C3A7F-B710-4A5D-8195-55D43352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盲评排序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4FC2B-4252-4256-BBA3-044805C7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五个 LLM judge</a:t>
            </a:r>
          </a:p>
          <a:p xmlns:a="http://schemas.openxmlformats.org/drawingml/2006/main">
            <a:pPr algn="l">
              <a:def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匿名 A/B/C 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7D098C-E438-43EF-A7B6-907ABC46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F2C15D-6D6D-4D8D-AEB9-04BD9E91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F6F9F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466F58-33AF-41FF-8757-5DCCABB0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19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特征抽取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8561C7-E195-4FED-BB0B-FDD21E52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LaBSE / NLI /</a:t>
            </a:r>
          </a:p>
          <a:p xmlns:a="http://schemas.openxmlformats.org/drawingml/2006/main">
            <a:pPr algn="l">
              <a:def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句法 / LM / proxy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38B212-76BE-4A01-BD10-1CB7715A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624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829083-39F8-4A58-967C-922978A4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6A683E-D0F2-44D2-BE44-994A0031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2905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670E35-12FA-47B3-B45F-0049A762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95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A9D8F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B7D9BF-FA36-4338-9863-B9EC8803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19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统计解释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A2FC73-3E27-4064-A9D4-F013604B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243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pairwise logistic</a:t>
            </a:r>
          </a:p>
          <a:p xmlns:a="http://schemas.openxmlformats.org/drawingml/2006/main">
            <a:pPr algn="l">
              <a:def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cluster-robust 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CC5BEA-27DA-4BE2-B465-68A81793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2ACDF0-749A-4DE7-9280-6675AD5C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255477-C5E5-4042-85E3-43B0509F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2905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D1CB10-B28A-47A3-859C-B1868E5B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195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26D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C26D3A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39F110-DB7F-471E-A84A-70E9BD32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19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稳健汇总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94F794-A653-4D8F-A0AC-F87B2812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243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自排除评审集 +</a:t>
            </a:r>
          </a:p>
          <a:p xmlns:a="http://schemas.openxmlformats.org/drawingml/2006/main">
            <a:pPr algn="l">
              <a:def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稳定性分层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C26C9E-CD9E-4171-A0E3-A1F38737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52E333-97CF-4FA6-924A-A28BCB43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2600"/>
            <a:ext cx="914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关键处理：每条三候选排序拆成 A/B、A/C、B/C 三个成对判断；同一样本内相关性通过 cluster-robust 标准误修正。</a:t>
            </a:r>
          </a:p>
        </p:txBody>
      </p:sp>
    </p:spTree>
    <p:extLst>
      <p:ext uri="{BB962C8B-B14F-4D97-AF65-F5344CB8AC3E}">
        <p14:creationId xmlns:p14="http://schemas.microsoft.com/office/powerpoint/2010/main" val="16639728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73017A-AF5D-4614-9FB4-458FDB72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A48B1-83F4-43FF-8908-E0B8DCD6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Data-marker">
            <a:extLst xmlns:a="http://schemas.openxmlformats.org/drawingml/2006/main">
              <a:ext uri="{FF2B5EF4-FFF2-40B4-BE49-F238E27FC236}">
                <a16:creationId xmlns:a16="http://schemas.microsoft.com/office/drawing/2014/main" id="{CA8E0A25-A118-4CAF-AB3A-71582F57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Data-label">
            <a:extLst xmlns:a="http://schemas.openxmlformats.org/drawingml/2006/main">
              <a:ext uri="{FF2B5EF4-FFF2-40B4-BE49-F238E27FC236}">
                <a16:creationId xmlns:a16="http://schemas.microsoft.com/office/drawing/2014/main" id="{9D602373-349C-4D19-8063-C2B1F63E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D A T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2CC0D-500F-4C17-A7C7-BCC1E61C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数据层覆盖双向语料、候选来源与人工参考。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251D0-D9B7-40A5-8166-C9EBCC1B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研究数据不仅用于排序，也用于识别模型偏好与人工参考标准之间是否一致。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0753A-A15F-4F40-B6BA-B8228274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19A1D-8288-4E22-840E-3C982D9A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LLM-as-a-Judge 财经译文质量排序研究 | 结项汇报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163ED-965A-4233-A2F6-E26E0B5C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0C44B-D6EA-4D44-96E7-D769FAF2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8451A-0705-44E9-8C93-BEC352B8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EC 样本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F0DD0-9553-4044-8F85-5ED6730B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A0ACC-A7CC-433D-90DF-873E67DF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FFN 财经新闻</a:t>
            </a:r>
          </a:p>
          <a:p xmlns:a="http://schemas.openxmlformats.org/drawingml/2006/main">
            <a:pPr algn="l">
              <a:defRPr sz="788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English-to-Chinese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A0DE3-6611-427B-9FB5-4E7298C2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3A349-9102-437D-AAA3-091B3AD8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CE 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B036C-F6DD-40C7-A22B-A5FEEAB8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200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41A03-591A-48DE-BFDF-7B819050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70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ECPCFE 财经/经济语料</a:t>
            </a:r>
          </a:p>
          <a:p xmlns:a="http://schemas.openxmlformats.org/drawingml/2006/main">
            <a:pPr algn="l">
              <a:defRPr sz="788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Chinese-to-English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DDA39-7637-4ABD-A6C4-B240A0C8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1C328-8D15-4C89-A136-3F8220DF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候选 / 样本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A3D4E-E8DA-4B70-8619-7F248FB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BE6A5-E6EB-431E-B15A-A7797EF6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670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人工参考译文 + 两个模型生成候选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0AC36-8314-4050-8575-B35375D1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526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7C6C4-F27A-402F-8D56-C4C9A977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评审模型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0B7DB-4954-4D04-A6F0-F9E46C10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098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16D83-1A3E-4C10-9B46-633B6055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国内外主流 LLM 盲评排序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F5007-896D-44FB-A5B8-86924FDE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人工参考译文 Top-1 对齐率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AABC6-651C-4612-A0C9-DFD57811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kimi-version / EC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966294-D1D8-4BFC-B522-FC06FC1F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76775"/>
            <a:ext cx="614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3298EF-941F-4872-A595-BCFCD45F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76775"/>
            <a:ext cx="86010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E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1BE142-F4C2-47B5-96F9-2ABE6F93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196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5.6%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FBD10-BDE7-40F4-82E2-8FE320AE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76800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远低于随机基线 33.3%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66DF56-C9BD-426A-A822-FFF8C379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kimi-version / 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71894B-5AEF-4404-AAAA-B880DE74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33975"/>
            <a:ext cx="614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055F34-8F01-47E7-A219-953EC85B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33975"/>
            <a:ext cx="162806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E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2B8556-C26A-4ABF-B55A-C9392E77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768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10.6%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7827A9-CA34-45F4-B863-4C9B2561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34000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模型偏好与人工参考明显错位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B4BB02-EEFF-48A4-93F1-DB06B615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claude-version / EC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085A57-8490-41C4-B435-0C5BBABA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91175"/>
            <a:ext cx="614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AEBB1B-4BCA-4DE1-A769-35B2E1F7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91175"/>
            <a:ext cx="503777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C6D9C0-3B43-4F8C-BCD4-76885007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340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32.8%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01ECA7-D8BB-4041-85B1-147F7DE1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91200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接近随机基线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81E503-F36E-4D1E-9849-8037EDB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007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claude-version / 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35B379-F6E6-42CB-A130-DAC9B06A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048375"/>
            <a:ext cx="614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D7697B-D39F-45E7-85AD-36B623D0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048375"/>
            <a:ext cx="45923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E867ED-FCD7-4A26-8046-8B5E6C47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9912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29.9%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074DBD-DFCD-4DAB-87F8-A6DEA7F7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48400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接近随机基线</a:t>
            </a:r>
          </a:p>
        </p:txBody>
      </p:sp>
    </p:spTree>
    <p:extLst>
      <p:ext uri="{BB962C8B-B14F-4D97-AF65-F5344CB8AC3E}">
        <p14:creationId xmlns:p14="http://schemas.microsoft.com/office/powerpoint/2010/main" val="8555780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C83D4-80F9-4560-A802-36EF8EB4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38508-7653-4D7F-B7EE-7FDA4865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ethod Stack-marker">
            <a:extLst xmlns:a="http://schemas.openxmlformats.org/drawingml/2006/main">
              <a:ext uri="{FF2B5EF4-FFF2-40B4-BE49-F238E27FC236}">
                <a16:creationId xmlns:a16="http://schemas.microsoft.com/office/drawing/2014/main" id="{54AF1C94-4BA5-4E81-8560-ED6F2184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ethod Stack-label">
            <a:extLst xmlns:a="http://schemas.openxmlformats.org/drawingml/2006/main">
              <a:ext uri="{FF2B5EF4-FFF2-40B4-BE49-F238E27FC236}">
                <a16:creationId xmlns:a16="http://schemas.microsoft.com/office/drawing/2014/main" id="{70DFD4AD-FC03-42A2-9286-C7363DB2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M E T H O D   S T A C 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443AB-4B54-4D47-9F0C-C6A61F87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多层特征把模型偏好拆成可检验变量。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38B0A-350A-4338-BBE2-2D1B327E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联合回归不把任一指标视作金标准，而是观察它们在同一 pairwise 选择中是否仍有解释力。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F8DA1-697B-4EED-B71C-C1B49E0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6243F-0E94-4E0F-882F-CE290E8B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LLM-as-a-Judge 财经译文质量排序研究 | 结项汇报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0CF2B-4A4C-4C6E-AE3A-5C8E59F0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8F07E-FD18-4961-875A-74C6D130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2C1C0-5E71-46A9-B61D-341DA0F9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跨语言语义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CE93E-740B-4B5A-B5C6-825F6835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002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LaBSE cosine similarity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CCE55-767D-4122-8CAF-BBCAC584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A0667-2C0D-4F7C-AD8B-F79481E6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673AB-C308-4DDE-88CC-230C3701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19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语义蕴含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5A208-A844-4BF4-BB4A-A14635DE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2892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bidirectional entailment / omission risk / boundary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C25E3-C4BE-4F4A-BA8F-17529F3B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70AF3-EEF5-492B-9CE7-3E6A44E5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53DCE-2931-46B7-9D14-178267B6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句法结构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4F09CB-751E-4A5A-B780-35A71FE7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575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dependency depth / normalized dependency distance / clause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5A0CD-4D4F-4248-854A-CB9EF2F5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93298-9F8D-41D9-966E-E5D95B5C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25972-5809-4D16-9F93-931D2266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目标语自然度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67BB7-1435-4D17-AF07-C0242350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8622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target LM naturalness 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AABC5-2297-42A6-835C-A79A003F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AB79F5-E8BC-43A6-9372-86CC7528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E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C40C0A-840F-42A2-8237-51E778C4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规则控制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48EF5B-9C82-410A-9471-71E65866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148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extra number / entity / register / translationese diagnostics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CBCE40-1AFF-492C-A58E-67AF9FF9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BBD2E7-3771-42F3-94C5-74184D10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33600"/>
            <a:ext cx="21907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8B43F1-DD97-4CBE-A00C-814E1B2A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622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解释口径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057B9A-E52A-4F0E-8931-AE4DCF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+ 系数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86F457-62CC-4775-B076-2F6B020C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该特征越高，候选越容易被排在前面。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78418B-19BE-4171-9DEA-F484E7DB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957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- 系数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2E3EAA-F9F0-47CB-898D-35ADB4E1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该特征越高，候选越不容易被偏好。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1A68E1-1C15-435D-AFE6-4415A484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主报告优先使用自排除评审集和 cluster-robust 输出。</a:t>
            </a:r>
          </a:p>
        </p:txBody>
      </p:sp>
    </p:spTree>
    <p:extLst>
      <p:ext uri="{BB962C8B-B14F-4D97-AF65-F5344CB8AC3E}">
        <p14:creationId xmlns:p14="http://schemas.microsoft.com/office/powerpoint/2010/main" val="12114386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83373D-2B2B-434F-92C6-48CFB8DF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1D586-99C0-4ADA-94FA-79922CCB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Consensus-marker">
            <a:extLst xmlns:a="http://schemas.openxmlformats.org/drawingml/2006/main">
              <a:ext uri="{FF2B5EF4-FFF2-40B4-BE49-F238E27FC236}">
                <a16:creationId xmlns:a16="http://schemas.microsoft.com/office/drawing/2014/main" id="{384A182D-762F-44E2-8482-920C1995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Consensus-label">
            <a:extLst xmlns:a="http://schemas.openxmlformats.org/drawingml/2006/main">
              <a:ext uri="{FF2B5EF4-FFF2-40B4-BE49-F238E27FC236}">
                <a16:creationId xmlns:a16="http://schemas.microsoft.com/office/drawing/2014/main" id="{C1C6E1FF-183E-4202-96DC-96820DB1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C O N S E N S U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E0784-DA89-4E15-ACF6-774989D2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模型间排序一致性较高，但 EC 比 CE 更稳定。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AFEB4-F7C5-4D9C-B66D-8CB51027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自排除条件下，EC 平均 pairwise agreement 约 0.828-0.832；CE 约 0.771-0.804，均明显高于随机基线 0.5。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AE45E-28C4-4C7A-A4DC-2E736187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B5BAD-C74A-4C0D-8ACF-192C1A5E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LLM-as-a-Judge 财经译文质量排序研究 | 结项汇报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3E358-DB7D-49F6-A2E0-49BC73C9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6F713-83F1-48D3-9DBF-EEF31585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claude-version / 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7E7DD-EC0E-44EA-8F3B-0656A7AA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90775"/>
            <a:ext cx="5667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7489C-371E-49C1-8052-435595A5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90775"/>
            <a:ext cx="471525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D04B6-5263-4ECF-A3C4-F8223C62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336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EF7D9-5CEE-457B-9BCB-01A6C858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自排除 Claude 作为 judge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D9753-3A43-44EF-8401-D0E833B7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kimi-version / 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8D002-0569-4DCC-B46E-0BD2DE19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47975"/>
            <a:ext cx="5667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43A60-6CCB-4B23-A676-E57447AA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47975"/>
            <a:ext cx="469258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A7E45-C558-46D8-861D-9AFA6A1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908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FBF56-6EB5-4BA2-AA3A-1F7EE1CE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自排除 Kimi 作为 judge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C2542-06C6-4AD3-A793-2C963DDC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claude-version / 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047A5-B53C-47DC-A8C4-05D9F36E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05175"/>
            <a:ext cx="5667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BD568-6926-48F3-8C92-6FFE1DA9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05175"/>
            <a:ext cx="455657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7F4251-1DA8-48BC-9031-37971129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480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3F071-E263-497A-BB13-A36FB19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CE 仍稳定，但低于 EC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1FA3CC-0280-48CD-8B48-38E08125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kimi-version / 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E3960D-4AEC-488F-ACBF-975C246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62375"/>
            <a:ext cx="5667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94590-8D1B-4813-A12D-15531942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62375"/>
            <a:ext cx="436954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5316DD-7AE4-4FC2-8732-19157D6C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052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068F04-26C7-4831-9735-4CCDDC48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CE 分歧更明显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0AD32C-FE45-4A41-8FDE-6CFD44AA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958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134D0F-5F94-440E-9560-2E2B1B52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67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解释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5D68EE-1CEF-4F14-8F62-857EC977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959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一致性说明模型有共同质量信号；不说明它们共享完全相同标准。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92BAAA-7EF5-4C1D-AF67-3B3741C2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768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随机 pairwise 基线 = 0.5</a:t>
            </a:r>
          </a:p>
        </p:txBody>
      </p:sp>
    </p:spTree>
    <p:extLst>
      <p:ext uri="{BB962C8B-B14F-4D97-AF65-F5344CB8AC3E}">
        <p14:creationId xmlns:p14="http://schemas.microsoft.com/office/powerpoint/2010/main" val="2086115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5EB93F-5042-4509-BC41-084F6B50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67553-C3B8-4313-B732-D2895A42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Core Findings-marker">
            <a:extLst xmlns:a="http://schemas.openxmlformats.org/drawingml/2006/main">
              <a:ext uri="{FF2B5EF4-FFF2-40B4-BE49-F238E27FC236}">
                <a16:creationId xmlns:a16="http://schemas.microsoft.com/office/drawing/2014/main" id="{A851BB0B-BAB2-446D-B434-6BBE1F6B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Core Findings-label">
            <a:extLst xmlns:a="http://schemas.openxmlformats.org/drawingml/2006/main">
              <a:ext uri="{FF2B5EF4-FFF2-40B4-BE49-F238E27FC236}">
                <a16:creationId xmlns:a16="http://schemas.microsoft.com/office/drawing/2014/main" id="{580662BC-B1B2-4934-A11B-4BF3897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C O R E   F I N D I N G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06E48-B36E-44DB-9EC0-0972227E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CE 与 EC 的排序机制分化，是全研究最稳的结论。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9F40B-CFF6-48D1-9CBD-9D9685C7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稳定性分层将 2 个候选来源版本 × 4 个自排除 judge 的 8 个估计汇总为证据层级。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2D038-201F-4D0F-8821-9951EB81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10745-9A52-495A-BD1F-6FC557E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LLM-as-a-Judge 财经译文质量排序研究 | 结项汇报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DE073-91D5-4066-9D98-C84BCF9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48D92-ACAE-40EA-AB91-AA3B7029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8EB46-76DB-45B7-955F-C2994557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AD0AA-5D16-470E-A316-77C9DA3B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F6F9F"/>
                </a:solidFill>
                <a:latin typeface="Microsoft YaHei UI"/>
                <a:ea typeface="Microsoft YaHei UI"/>
                <a:cs typeface="Microsoft YaHei UI"/>
              </a:rPr>
              <a:t>CE：语义对应为中心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FDA0C-F024-485D-AD1E-ED37D2A6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03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no_exception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B5F63-71EF-45E4-822C-5AB37385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+ crosslingual_embedding_similarity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FBD9F-47E3-4F7D-BC08-12B6C33B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target_passive_density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58E75-3388-46E5-9780-2F8530C4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mostly supported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42EB1-F64B-4940-BCCE-7CAD26E7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target/source length ratio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A7776-03F6-48B3-9A0D-117AC2D7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B131C-278D-4DA3-A605-7A8E89B9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中译英判断更依赖译文是否与源文整体语义贴合。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4DFC6-A6AE-4E19-9F05-959A1C38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EC：目标语组织与翻译腔为中心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6564C-876C-4116-9CE7-67750880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rPr>
              <a:t>no_exception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00EB2-4B41-42FB-8F6B-FBA9616B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86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- target_function_word_density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5E62E-4F89-4BE1-8C10-A707A3AF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- target_explicit_connective_density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4608B8-6D19-4B81-8E10-E44B49ED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BFD0D9"/>
                </a:solidFill>
                <a:latin typeface="Microsoft YaHei UI"/>
                <a:ea typeface="Microsoft YaHei UI"/>
                <a:cs typeface="Microsoft YaHei UI"/>
              </a:rPr>
              <a:t>mostly supported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5D7AEA-C664-43C3-8A8B-04236F78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- nli_omission_risk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- extra_number_ratio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9018DA-2F3D-40D9-BA07-29C910B0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508698-1588-4F25-90F5-D0CA3C31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340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英译中判断难以由单一 LaBSE 相似度解释。</a:t>
            </a:r>
          </a:p>
        </p:txBody>
      </p:sp>
    </p:spTree>
    <p:extLst>
      <p:ext uri="{BB962C8B-B14F-4D97-AF65-F5344CB8AC3E}">
        <p14:creationId xmlns:p14="http://schemas.microsoft.com/office/powerpoint/2010/main" val="4168782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A60361-7AB6-4E31-A925-D997C23A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1BC50-C2B2-42C4-8B1F-BE80A217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odel Preferences-marker">
            <a:extLst xmlns:a="http://schemas.openxmlformats.org/drawingml/2006/main">
              <a:ext uri="{FF2B5EF4-FFF2-40B4-BE49-F238E27FC236}">
                <a16:creationId xmlns:a16="http://schemas.microsoft.com/office/drawing/2014/main" id="{7265DCA3-B717-4858-92AA-6031B0D3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odel Preferences-label">
            <a:extLst xmlns:a="http://schemas.openxmlformats.org/drawingml/2006/main">
              <a:ext uri="{FF2B5EF4-FFF2-40B4-BE49-F238E27FC236}">
                <a16:creationId xmlns:a16="http://schemas.microsoft.com/office/drawing/2014/main" id="{B48DBA66-535A-40D5-B62E-B1B22E16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M O D E L   P R E F E R E N C E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F0279-C9D2-4854-BD1B-1E43D6B3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模型个体差异主要出现在辅助特征上。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3873B-0BEC-43D0-B13C-555E1B2F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共同核心之外，不同 judge 对 NLI、长度、自然度、依存结构和数字实体控制的敏感度不同。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87540-29B8-4246-A3FB-5656D122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D36D9-60AA-4B7F-9B8E-50C6742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LLM-as-a-Judge 财经译文质量排序研究 | 结项汇报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E19D5-24FC-49F0-A858-EB3F2E1B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27629-17A8-4B7D-94CE-2DC6FD59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38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GPT-5.2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880EB-AA47-434A-9C96-67E629BF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38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Gemini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E5780-2B50-41EF-A7B4-81C3AB90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38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DeepSeek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3AC5D-C384-4410-BCF3-DBB8B463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038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Claude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30A63-3B2F-4B5B-B7AE-E62B3C43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38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Kimi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2C792-FE08-44FC-B402-93A92635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CE</a:t>
            </a:r>
          </a:p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稳定显著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ABF80-1D86-4D3B-9C91-B7E8AAF3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EC</a:t>
            </a:r>
          </a:p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稳定显著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9FC90-DAD4-4E56-807E-921BE6E9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个体差异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331A9-6B96-48F9-B9F2-09600496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431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F5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617A4-B1A9-4A6D-B42F-CC9DBCB0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574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+ LaBSE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被动密度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D592E-C9FC-44AD-8453-68F9A242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337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3D6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C7B79-7BEE-4071-AA0E-BD1B7A70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480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遗漏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功能词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连接词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6539B-A785-496D-9B43-DDDA5530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005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544BC3-7DAC-4CE1-B7D8-C832AB6A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148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EC 中 LaBSE</a:t>
            </a:r>
          </a:p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仅局部显著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DF517-1EDC-4EF5-875B-8FF915F1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431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F5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2758B2-A849-4159-A2E4-78D32740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574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+ LaBSE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长度比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被动密度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C36A40-3B94-4962-8D0D-19CB075D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337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3D6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EC163E-8DEB-4704-9553-1AB84DEE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480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遗漏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功能词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连接词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4F9AF4-FFD2-4183-B826-1280758E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005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1C6B00-CD43-4AD7-B725-6FAA4585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148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句法距离</a:t>
            </a:r>
          </a:p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局部显著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C9B8C-CC27-4F01-8FC5-9EE77984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F5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3B583D-7E63-4C8F-B0CB-DC4983C5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574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+ LaBSE / + LM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遗漏 / 数字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被动密度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8AA9A6-E8EB-4CC9-A0FD-020A8399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3D6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116B11-CD4E-421E-9EC9-4D09B6EA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480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功能词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连接词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7204D1-B073-4855-881B-86965551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005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8D86A8-E9E5-4CEE-A69E-0D8B2AB0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148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LM 自然度</a:t>
            </a:r>
          </a:p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较敏感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619EB2-4CC8-457D-A870-38284A67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3431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148E0C-51FA-4CDF-B56D-DF342D7B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4574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+ LaBSE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长度比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被动密度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24B5D6-1E57-405B-AFEA-7846ED72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3337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F0E40F-A671-4F11-9DFB-614D727D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4480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数字 / 遗漏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功能词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连接词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4ED92C-AA62-443E-B03B-596DA3EE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4005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25468A-D545-4066-BD3E-AFFE2DB3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5148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CE 中代词</a:t>
            </a:r>
          </a:p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主语为正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16D0BE-C90B-4F05-AD86-768A8FEE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4ECA04-DB9F-4F8D-9094-345B5EE0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+ LaBSE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遗漏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被动密度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927C07-32BE-41B5-9235-56D800C2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815AD0-8A89-4F2D-A423-1C3A164D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480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遗漏/数字/实体</a:t>
            </a:r>
          </a:p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- 功能词/连接词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E2D89A-6338-4428-8FD6-64532514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1543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9F12B9-FEF2-4CFE-A4DE-72FC5EB2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148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EC 中目标语</a:t>
            </a:r>
          </a:p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LM 为正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E784C2-B241-428C-98E0-A9C93B64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05AF8B-0839-46B5-8E85-C4EACE0E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注：Claude/Kimi 在自排除设计中各只有一个候选来源版本可观察；表中优先呈现跨版本稳定显著项，单版本显著项按偏好列示。</a:t>
            </a:r>
          </a:p>
        </p:txBody>
      </p:sp>
    </p:spTree>
    <p:extLst>
      <p:ext uri="{BB962C8B-B14F-4D97-AF65-F5344CB8AC3E}">
        <p14:creationId xmlns:p14="http://schemas.microsoft.com/office/powerpoint/2010/main" val="10830181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F0C7C-E588-4717-A661-9B67D05F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6DD35-228E-4599-BEA9-65BB46AC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Human Reference-marker">
            <a:extLst xmlns:a="http://schemas.openxmlformats.org/drawingml/2006/main">
              <a:ext uri="{FF2B5EF4-FFF2-40B4-BE49-F238E27FC236}">
                <a16:creationId xmlns:a16="http://schemas.microsoft.com/office/drawing/2014/main" id="{6F809036-EF51-42D1-9085-719FBC7F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Human Reference-label">
            <a:extLst xmlns:a="http://schemas.openxmlformats.org/drawingml/2006/main">
              <a:ext uri="{FF2B5EF4-FFF2-40B4-BE49-F238E27FC236}">
                <a16:creationId xmlns:a16="http://schemas.microsoft.com/office/drawing/2014/main" id="{F7D81456-E907-4F7A-8EA1-79E7B692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H U M A N   R E F E R E N C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9170E-E22F-4D50-81EB-4A21ECBE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模型共识不等于与人工参考完全一致。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9716-D9F0-46AD-B24C-66492F15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人工参考译文 Top-1 对齐率揭示：候选来源版本会显著改变模型偏好与人工参考之间的关系。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D67E0-CFEF-4444-8C7F-070E0277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D0476-7371-435B-A07B-6DDDC26C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LLM-as-a-Judge 财经译文质量排序研究 | 结项汇报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85EEB-D8B4-4EEF-B82D-FBA1EED2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7A2E8-6712-4644-9C9A-4B0274E5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随机三选一基线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E7631-72EE-4785-99E9-5282C3CE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90775"/>
            <a:ext cx="4619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20CE3-8FEC-467F-8944-40AF7C03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90775"/>
            <a:ext cx="38458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C5E09-1482-4118-A635-6DAD4036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33.3%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4C23E-D587-4773-8B0F-754DB062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90800"/>
            <a:ext cx="466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人工译文作为三候选之一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E2D58-5AF0-4F03-98DF-AEA55C64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kimi-version / 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D0A17-2108-45EF-BCD2-27E75B5D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4619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74A9E-7A0B-4AC1-858E-7680C1A6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64674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E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CDF1A-06D4-49AD-A9C8-A1E6A7E3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908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5.6%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8E1D3-0B60-4488-92D7-A0DE145C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48000"/>
            <a:ext cx="466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远低于随机水平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F245D-4C1A-49D9-90F9-9EF665FF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kimi-version / 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B9817-9DD8-47A1-A21F-C6773A13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05175"/>
            <a:ext cx="4619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D8D90-7801-45AA-852B-35B7FBD2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05175"/>
            <a:ext cx="122420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E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D0426-3A9A-459A-A080-860261EF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480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10.6%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E9E2C4-0082-45D3-8880-274B8DA4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05200"/>
            <a:ext cx="466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远低于随机水平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7C438-17B2-4A7E-B0B9-5EEDF292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claude-version / EC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BF2A85-289D-4A5D-B5FE-34177A34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62375"/>
            <a:ext cx="4619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A25C4F-2258-4414-B8FE-4E602358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62375"/>
            <a:ext cx="378809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6E826-77EB-43C7-9C8F-C62AA3F0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052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32.8%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6CBFDB-33CD-48B5-809D-B0DE83E9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62400"/>
            <a:ext cx="466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接近随机水平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4F9A2B-17E3-4BC8-B3EE-729606C7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claude-version / 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204A34-B9DC-40D8-86EF-B0D72664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19575"/>
            <a:ext cx="4619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2DB5A1-9106-4061-9256-1777D611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19575"/>
            <a:ext cx="345317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669EC2-6CC2-4BC9-9CED-C8EF3A6C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624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29.9%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A014CF-C960-407C-AFED-67A2243F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19600"/>
            <a:ext cx="466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接近随机水平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02FF97-B28A-4CFD-A88A-8FE6FBF9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2000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CB7462-55CD-44AC-9D93-5836A136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479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解释意义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C5F565-6372-43FB-8335-F9D07EB3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71800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Kimi 候选版中，模型很少把人工参考译文排第一。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E16F03-BCE2-4A18-B849-148CC599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38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65740F-FF14-4369-AD59-A735CA31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43350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这提示模型偏好与人工参考标准之间存在系统性错位；稳定排序不必然等于人工标准。</a:t>
            </a:r>
          </a:p>
        </p:txBody>
      </p:sp>
    </p:spTree>
    <p:extLst>
      <p:ext uri="{BB962C8B-B14F-4D97-AF65-F5344CB8AC3E}">
        <p14:creationId xmlns:p14="http://schemas.microsoft.com/office/powerpoint/2010/main" val="16739388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202615-D7B6-46D0-84E4-98D0BC34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6C05C-DAC8-417A-86A3-66ED2CBB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eflection-marker">
            <a:extLst xmlns:a="http://schemas.openxmlformats.org/drawingml/2006/main">
              <a:ext uri="{FF2B5EF4-FFF2-40B4-BE49-F238E27FC236}">
                <a16:creationId xmlns:a16="http://schemas.microsoft.com/office/drawing/2014/main" id="{E746802A-FCF1-45A8-B974-C96847E6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Reflection-label">
            <a:extLst xmlns:a="http://schemas.openxmlformats.org/drawingml/2006/main">
              <a:ext uri="{FF2B5EF4-FFF2-40B4-BE49-F238E27FC236}">
                <a16:creationId xmlns:a16="http://schemas.microsoft.com/office/drawing/2014/main" id="{46BDDE07-1D5E-4D57-B8B8-5129C860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R E F L E C T I O 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4E893-A26F-4838-BE26-E1C7572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LLM-as-a-judge 可用，但不能被当作单一客观标准。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80004-17D1-4539-B5A7-609340E1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研究贡献在于把模型排序拆解为稳定性、方向性、候选来源和语言学特征共同构成的证据链。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218A9-0990-4CCA-B599-F151EBF2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B1E98-11DB-4B3E-A8A9-C52A3151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63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LLM-as-a-Judge 财经译文质量排序研究 | 结项汇报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63ACF-9A16-45AE-AF5A-608DE745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FAD56-AD20-426D-ABEE-800FAAD5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857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2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65300-089E-47F9-AFC7-0BFFB840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核心贡献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4DA1F-E954-4A40-B970-9B23D8DF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9CAE6-1F3C-4222-A63C-B6E2072A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D9E4EA"/>
                </a:solidFill>
                <a:latin typeface="Microsoft YaHei UI"/>
                <a:ea typeface="Microsoft YaHei UI"/>
                <a:cs typeface="Microsoft YaHei UI"/>
              </a:rPr>
              <a:t>建立双方向、双版本、五模型盲评框架；引入自排除评审集、聚类稳健回归和稳定性分层。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4E4D5-5DB0-433D-BD5A-ADD9B065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2857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B31C3-9652-41A1-A797-11CE4E17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结论边界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6B292-0BB2-4D1E-9F58-EE281664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92FFA-F9F7-4AC3-8D66-6C0899A1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5280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NLI、目标语 LM 和句法指标具有模型依赖；多数句法特征不宜被提升为强结论。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5E28A-E324-4AE1-A64C-303086C9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05050"/>
            <a:ext cx="2857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78B74-E845-4BEC-95E3-D04245AC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应用启示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AD3AF-9BA7-44EF-B16F-9EE74902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75A73-F54F-4D76-9434-A68A1FA4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3707C"/>
                </a:solidFill>
                <a:latin typeface="Microsoft YaHei UI"/>
                <a:ea typeface="Microsoft YaHei UI"/>
                <a:cs typeface="Microsoft YaHei UI"/>
              </a:rPr>
              <a:t>LLM 排序适合作为辅助筛选工具，应与可解释特征、人工复核和具体翻译目标结合。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1D057-BD40-4ECE-947C-63FCE216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1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FB815-16C6-4631-A1C8-12650253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923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下一步提升：补充 sklearn 复核、多重比较/FDR 附录、人工专家评分与更大规模语料；发布前清理 git 历史中的 API key 风险。</a:t>
            </a:r>
          </a:p>
        </p:txBody>
      </p:sp>
    </p:spTree>
    <p:extLst>
      <p:ext uri="{BB962C8B-B14F-4D97-AF65-F5344CB8AC3E}">
        <p14:creationId xmlns:p14="http://schemas.microsoft.com/office/powerpoint/2010/main" val="1379206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2026-05-04T08:39:49.4550000Z</dcterms:created>
  <dcterms:modified xsi:type="dcterms:W3CDTF">2026-05-04T08:39:49.4550000Z</dcterms:modified>
</coreProperties>
</file>